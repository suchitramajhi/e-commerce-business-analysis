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-137160"/>
            <a:ext cx="2834640" cy="1463040"/>
          </a:xfrm>
          <a:prstGeom prst="rect">
            <a:avLst/>
          </a:prstGeom>
          <a:solidFill>
            <a:srgbClr val="5B2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61320" y="5303520"/>
            <a:ext cx="1828800" cy="1737360"/>
          </a:xfrm>
          <a:prstGeom prst="rect">
            <a:avLst/>
          </a:prstGeom>
          <a:solidFill>
            <a:srgbClr val="7B4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3291840" cy="685800"/>
          </a:xfrm>
          <a:prstGeom prst="rect">
            <a:avLst/>
          </a:prstGeom>
          <a:solidFill>
            <a:srgbClr val="5B2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749808"/>
            <a:ext cx="3108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BEACC9"/>
                </a:solidFill>
                <a:latin typeface="Aptos"/>
              </a:defRPr>
            </a:pPr>
            <a:r>
              <a:t>PORTFOLIO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61872"/>
            <a:ext cx="7863840" cy="2423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E-Commerce</a:t>
            </a:r>
            <a:br/>
            <a:r>
              <a:t>Sales &amp; Customer</a:t>
            </a:r>
            <a:br/>
            <a:r>
              <a:t>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50208"/>
            <a:ext cx="6858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CD5E0"/>
                </a:solidFill>
                <a:latin typeface="Aptos"/>
              </a:defRPr>
            </a:pPr>
            <a:r>
              <a:t>From raw transactional data to business recommendations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800600"/>
            <a:ext cx="987552" cy="384048"/>
          </a:xfrm>
          <a:prstGeom prst="roundRect">
            <a:avLst/>
          </a:prstGeom>
          <a:solidFill>
            <a:srgbClr val="5B2D7D"/>
          </a:solidFill>
          <a:ln>
            <a:solidFill>
              <a:srgbClr val="5B2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855464"/>
            <a:ext cx="9875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EXCEL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4800600"/>
            <a:ext cx="987552" cy="384048"/>
          </a:xfrm>
          <a:prstGeom prst="roundRect">
            <a:avLst/>
          </a:prstGeom>
          <a:solidFill>
            <a:srgbClr val="7B4896"/>
          </a:solidFill>
          <a:ln>
            <a:solidFill>
              <a:srgbClr val="5B2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4855464"/>
            <a:ext cx="9875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4800600"/>
            <a:ext cx="987552" cy="384048"/>
          </a:xfrm>
          <a:prstGeom prst="roundRect">
            <a:avLst/>
          </a:prstGeom>
          <a:solidFill>
            <a:srgbClr val="5B2D7D"/>
          </a:solidFill>
          <a:ln>
            <a:solidFill>
              <a:srgbClr val="5B2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4855464"/>
            <a:ext cx="9875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98848" y="4800600"/>
            <a:ext cx="987552" cy="384048"/>
          </a:xfrm>
          <a:prstGeom prst="roundRect">
            <a:avLst/>
          </a:prstGeom>
          <a:solidFill>
            <a:srgbClr val="7B4896"/>
          </a:solidFill>
          <a:ln>
            <a:solidFill>
              <a:srgbClr val="5B2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4855464"/>
            <a:ext cx="98755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DAX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742432"/>
            <a:ext cx="5029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B8B0BF"/>
                </a:solidFill>
                <a:latin typeface="Aptos"/>
              </a:defRPr>
            </a:pPr>
            <a:r>
              <a:t>Business Intelligence • Data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651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5B2D7D"/>
                </a:solidFill>
                <a:latin typeface="Aptos"/>
              </a:defRPr>
            </a:pPr>
            <a:r>
              <a:t>01 •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61E"/>
                </a:solidFill>
                <a:latin typeface="Aptos Display"/>
              </a:defRPr>
            </a:pPr>
            <a:r>
              <a:t>The business story in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61872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656E"/>
                </a:solidFill>
                <a:latin typeface="Aptos"/>
              </a:defRPr>
            </a:pPr>
            <a:r>
              <a:t>A concise view of what the analysis uncovered.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60604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020824"/>
            <a:ext cx="220370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5B2D7D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313432"/>
            <a:ext cx="220370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161E"/>
                </a:solidFill>
                <a:latin typeface="Aptos"/>
              </a:defRPr>
            </a:pPr>
            <a:r>
              <a:t>$9.08M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843784"/>
            <a:ext cx="220370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9656E"/>
                </a:solidFill>
                <a:latin typeface="Aptos"/>
              </a:defRPr>
            </a:pPr>
            <a:r>
              <a:t>Total revenue analyzed.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874519"/>
            <a:ext cx="260604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020824"/>
            <a:ext cx="220370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7B4896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13432"/>
            <a:ext cx="220370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161E"/>
                </a:solidFill>
                <a:latin typeface="Aptos"/>
              </a:defRPr>
            </a:pPr>
            <a:r>
              <a:t>20,000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843784"/>
            <a:ext cx="220370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9656E"/>
                </a:solidFill>
                <a:latin typeface="Aptos"/>
              </a:defRPr>
            </a:pPr>
            <a:r>
              <a:t>Transactions across the dataset.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35624" y="1874519"/>
            <a:ext cx="260604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2020824"/>
            <a:ext cx="220370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307848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313432"/>
            <a:ext cx="220370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161E"/>
                </a:solidFill>
                <a:latin typeface="Aptos"/>
              </a:defRPr>
            </a:pPr>
            <a:r>
              <a:t>5,000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843784"/>
            <a:ext cx="220370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9656E"/>
                </a:solidFill>
                <a:latin typeface="Aptos"/>
              </a:defRPr>
            </a:pPr>
            <a:r>
              <a:t>Unique customers analyzed.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874519"/>
            <a:ext cx="260604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07424" y="2020824"/>
            <a:ext cx="220370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C35C2D"/>
                </a:solidFill>
                <a:latin typeface="Aptos"/>
              </a:defRPr>
            </a:pPr>
            <a:r>
              <a:t>REPEAT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2313432"/>
            <a:ext cx="220370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18161E"/>
                </a:solidFill>
                <a:latin typeface="Aptos"/>
              </a:defRPr>
            </a:pPr>
            <a:r>
              <a:t>84.86%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843784"/>
            <a:ext cx="220370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9656E"/>
                </a:solidFill>
                <a:latin typeface="Aptos"/>
              </a:defRPr>
            </a:pPr>
            <a:r>
              <a:t>A major customer-retention strength.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3767328"/>
            <a:ext cx="3840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8161E"/>
                </a:solidFill>
                <a:latin typeface="Aptos"/>
              </a:defRPr>
            </a:pPr>
            <a:r>
              <a:t>What I set out to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187952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8161E"/>
                </a:solidFill>
                <a:latin typeface="Aptos"/>
              </a:defRPr>
            </a:pPr>
            <a:r>
              <a:t>• Where is revenue coming from?</a:t>
            </a:r>
          </a:p>
          <a:p>
            <a:pPr>
              <a:spcAft>
                <a:spcPts val="900"/>
              </a:spcAft>
              <a:defRPr sz="1300">
                <a:solidFill>
                  <a:srgbClr val="18161E"/>
                </a:solidFill>
                <a:latin typeface="Aptos"/>
              </a:defRPr>
            </a:pPr>
            <a:r>
              <a:t>• Which customers and products create the most value?</a:t>
            </a:r>
          </a:p>
          <a:p>
            <a:pPr>
              <a:spcAft>
                <a:spcPts val="900"/>
              </a:spcAft>
              <a:defRPr sz="1300">
                <a:solidFill>
                  <a:srgbClr val="18161E"/>
                </a:solidFill>
                <a:latin typeface="Aptos"/>
              </a:defRPr>
            </a:pPr>
            <a:r>
              <a:t>• Where are the operational risks?</a:t>
            </a:r>
          </a:p>
          <a:p>
            <a:pPr>
              <a:spcAft>
                <a:spcPts val="900"/>
              </a:spcAft>
              <a:defRPr sz="1300">
                <a:solidFill>
                  <a:srgbClr val="18161E"/>
                </a:solidFill>
                <a:latin typeface="Aptos"/>
              </a:defRPr>
            </a:pPr>
            <a:r>
              <a:t>• What should the business focus on next?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3886200"/>
            <a:ext cx="5394960" cy="1828800"/>
          </a:xfrm>
          <a:prstGeom prst="roundRect">
            <a:avLst/>
          </a:prstGeom>
          <a:solidFill>
            <a:srgbClr val="EDE4F3"/>
          </a:solidFill>
          <a:ln>
            <a:solidFill>
              <a:srgbClr val="EDE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4160520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5B2D7D"/>
                </a:solidFill>
                <a:latin typeface="Aptos"/>
              </a:defRPr>
            </a:pPr>
            <a:r>
              <a:t>ANALYTICAL APPROACH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526280"/>
            <a:ext cx="4663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61E"/>
                </a:solidFill>
                <a:latin typeface="Aptos"/>
              </a:defRPr>
            </a:pPr>
            <a:r>
              <a:t>Transform  →  Validate  →  Model  →  Measure  →  Visualize  →  Recommend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69656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336792"/>
            <a:ext cx="10972800" cy="13716"/>
          </a:xfrm>
          <a:prstGeom prst="rect">
            <a:avLst/>
          </a:prstGeom>
          <a:solidFill>
            <a:srgbClr val="DA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651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5B2D7D"/>
                </a:solidFill>
                <a:latin typeface="Aptos"/>
              </a:defRPr>
            </a:pPr>
            <a:r>
              <a:t>02 • EXCEL + POWER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61E"/>
                </a:solidFill>
                <a:latin typeface="Aptos Display"/>
              </a:defRPr>
            </a:pPr>
            <a:r>
              <a:t>Data preparation came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61872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656E"/>
                </a:solidFill>
                <a:latin typeface="Aptos"/>
              </a:defRPr>
            </a:pPr>
            <a:r>
              <a:t>The objective was to create a clean, consistent dataset before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47088"/>
            <a:ext cx="4572000" cy="3977639"/>
          </a:xfrm>
          <a:prstGeom prst="roundRect">
            <a:avLst/>
          </a:prstGeom>
          <a:solidFill>
            <a:srgbClr val="F8F6F2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21408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5B2D7D"/>
                </a:solidFill>
                <a:latin typeface="Aptos"/>
              </a:defRPr>
            </a:pPr>
            <a:r>
              <a:t>POWER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3657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161E"/>
                </a:solidFill>
                <a:latin typeface="Aptos"/>
              </a:defRPr>
            </a:pPr>
            <a:r>
              <a:t>Make the data</a:t>
            </a:r>
            <a:br/>
            <a:r>
              <a:t>analysis-ready.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56432"/>
            <a:ext cx="374903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18161E"/>
                </a:solidFill>
                <a:latin typeface="Aptos"/>
              </a:defRPr>
            </a:pPr>
            <a:r>
              <a:t>• Changed data types</a:t>
            </a:r>
          </a:p>
          <a:p>
            <a:pPr>
              <a:spcAft>
                <a:spcPts val="900"/>
              </a:spcAft>
              <a:defRPr sz="1300">
                <a:solidFill>
                  <a:srgbClr val="18161E"/>
                </a:solidFill>
                <a:latin typeface="Aptos"/>
              </a:defRPr>
            </a:pPr>
            <a:r>
              <a:t>• Renamed columns</a:t>
            </a:r>
          </a:p>
          <a:p>
            <a:pPr>
              <a:spcAft>
                <a:spcPts val="900"/>
              </a:spcAft>
              <a:defRPr sz="1300">
                <a:solidFill>
                  <a:srgbClr val="18161E"/>
                </a:solidFill>
                <a:latin typeface="Aptos"/>
              </a:defRPr>
            </a:pPr>
            <a:r>
              <a:t>• Handled missing / null values</a:t>
            </a:r>
          </a:p>
          <a:p>
            <a:pPr>
              <a:spcAft>
                <a:spcPts val="900"/>
              </a:spcAft>
              <a:defRPr sz="1300">
                <a:solidFill>
                  <a:srgbClr val="18161E"/>
                </a:solidFill>
                <a:latin typeface="Aptos"/>
              </a:defRPr>
            </a:pPr>
            <a:r>
              <a:t>• Created custom columns</a:t>
            </a:r>
          </a:p>
          <a:p>
            <a:pPr>
              <a:spcAft>
                <a:spcPts val="900"/>
              </a:spcAft>
              <a:defRPr sz="1300">
                <a:solidFill>
                  <a:srgbClr val="18161E"/>
                </a:solidFill>
                <a:latin typeface="Aptos"/>
              </a:defRPr>
            </a:pPr>
            <a:r>
              <a:t>• Validated transformed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874519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61E"/>
                </a:solidFill>
                <a:latin typeface="Aptos"/>
              </a:defRPr>
            </a:pPr>
            <a:r>
              <a:t>Excel analysis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2395728"/>
            <a:ext cx="5394960" cy="493776"/>
          </a:xfrm>
          <a:prstGeom prst="roundRect">
            <a:avLst/>
          </a:prstGeom>
          <a:solidFill>
            <a:srgbClr val="FFFFFF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4728" y="2468880"/>
            <a:ext cx="1600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5B2D7D"/>
                </a:solidFill>
                <a:latin typeface="Aptos"/>
              </a:defRPr>
            </a:pPr>
            <a:r>
              <a:t>COUNTIF / COUNTIFS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2459736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9656E"/>
                </a:solidFill>
                <a:latin typeface="Aptos"/>
              </a:defRPr>
            </a:pPr>
            <a:r>
              <a:t>Customer repetition &amp; order counts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3017520"/>
            <a:ext cx="5394960" cy="493776"/>
          </a:xfrm>
          <a:prstGeom prst="roundRect">
            <a:avLst/>
          </a:prstGeom>
          <a:solidFill>
            <a:srgbClr val="FFFFFF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4728" y="3090672"/>
            <a:ext cx="1600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7B4896"/>
                </a:solidFill>
                <a:latin typeface="Aptos"/>
              </a:defRPr>
            </a:pPr>
            <a:r>
              <a:t>SUMIF / SUMIFS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3081528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9656E"/>
                </a:solidFill>
                <a:latin typeface="Aptos"/>
              </a:defRPr>
            </a:pPr>
            <a:r>
              <a:t>Revenue and spending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3639312"/>
            <a:ext cx="5394960" cy="493776"/>
          </a:xfrm>
          <a:prstGeom prst="roundRect">
            <a:avLst/>
          </a:prstGeom>
          <a:solidFill>
            <a:srgbClr val="FFFFFF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4728" y="3712464"/>
            <a:ext cx="1600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307848"/>
                </a:solidFill>
                <a:latin typeface="Aptos"/>
              </a:defRPr>
            </a:pPr>
            <a:r>
              <a:t>IFS / 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370332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9656E"/>
                </a:solidFill>
                <a:latin typeface="Aptos"/>
              </a:defRPr>
            </a:pPr>
            <a:r>
              <a:t>Customer &amp; spending classifications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4261104"/>
            <a:ext cx="5394960" cy="493776"/>
          </a:xfrm>
          <a:prstGeom prst="roundRect">
            <a:avLst/>
          </a:prstGeom>
          <a:solidFill>
            <a:srgbClr val="FFFFFF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4728" y="4334256"/>
            <a:ext cx="1600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C35C2D"/>
                </a:solidFill>
                <a:latin typeface="Aptos"/>
              </a:defRPr>
            </a:pPr>
            <a:r>
              <a:t>Pivot Tables + Charts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4325112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9656E"/>
                </a:solidFill>
                <a:latin typeface="Aptos"/>
              </a:defRPr>
            </a:pPr>
            <a:r>
              <a:t>Business summaries and trends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4882896"/>
            <a:ext cx="5394960" cy="493776"/>
          </a:xfrm>
          <a:prstGeom prst="roundRect">
            <a:avLst/>
          </a:prstGeom>
          <a:solidFill>
            <a:srgbClr val="FFFFFF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24728" y="4956048"/>
            <a:ext cx="1600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5B2D7D"/>
                </a:solidFill>
                <a:latin typeface="Aptos"/>
              </a:defRPr>
            </a:pPr>
            <a:r>
              <a:t>Slicers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4946904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9656E"/>
                </a:solidFill>
                <a:latin typeface="Aptos"/>
              </a:defRPr>
            </a:pPr>
            <a:r>
              <a:t>Interactive dashboard filtering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5559552"/>
            <a:ext cx="731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5B2D7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513832"/>
            <a:ext cx="4526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18161E"/>
                </a:solidFill>
                <a:latin typeface="Aptos"/>
              </a:defRPr>
            </a:pPr>
            <a:r>
              <a:t>A repeatable MIS reporting layer for sales, customers and products.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69656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336792"/>
            <a:ext cx="10972800" cy="13716"/>
          </a:xfrm>
          <a:prstGeom prst="rect">
            <a:avLst/>
          </a:prstGeom>
          <a:solidFill>
            <a:srgbClr val="DA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651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5B2D7D"/>
                </a:solidFill>
                <a:latin typeface="Aptos"/>
              </a:defRPr>
            </a:pPr>
            <a:r>
              <a:t>03 • MYSQL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61E"/>
                </a:solidFill>
                <a:latin typeface="Aptos Display"/>
              </a:defRPr>
            </a:pPr>
            <a:r>
              <a:t>Turn data into business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61872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656E"/>
                </a:solidFill>
                <a:latin typeface="Aptos"/>
              </a:defRPr>
            </a:pPr>
            <a:r>
              <a:t>SQL was used for date correction, joins, aggregation, ranking and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794760" cy="1508760"/>
          </a:xfrm>
          <a:prstGeom prst="roundRect">
            <a:avLst/>
          </a:prstGeom>
          <a:solidFill>
            <a:srgbClr val="18161E"/>
          </a:solidFill>
          <a:ln>
            <a:solidFill>
              <a:srgbClr val="1816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BCA8C8"/>
                </a:solidFill>
                <a:latin typeface="Aptos"/>
              </a:defRPr>
            </a:pPr>
            <a:r>
              <a:t>DATA QUALITY 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3108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t>Text date  →  DATE / DATETIME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2834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DC6D3"/>
                </a:solidFill>
                <a:latin typeface="Aptos"/>
              </a:defRPr>
            </a:pPr>
            <a:r>
              <a:t>Reliable time-based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847088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61E"/>
                </a:solidFill>
                <a:latin typeface="Aptos"/>
              </a:defRPr>
            </a:pPr>
            <a:r>
              <a:t>SQL techniques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2395728"/>
            <a:ext cx="19202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478024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5B2D7D"/>
                </a:solidFill>
                <a:latin typeface="Aptos"/>
              </a:defRPr>
            </a:pPr>
            <a:r>
              <a:t>JOINs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395728"/>
            <a:ext cx="19202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59" y="2478024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5B2D7D"/>
                </a:solidFill>
                <a:latin typeface="Aptos"/>
              </a:defRPr>
            </a:pPr>
            <a:r>
              <a:t>GROUP BY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2395728"/>
            <a:ext cx="19202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478024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5B2D7D"/>
                </a:solidFill>
                <a:latin typeface="Aptos"/>
              </a:defRPr>
            </a:pPr>
            <a:r>
              <a:t>SUM / COUNT / AVG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3081528"/>
            <a:ext cx="19202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3163824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5B2D7D"/>
                </a:solidFill>
                <a:latin typeface="Aptos"/>
              </a:defRPr>
            </a:pPr>
            <a:r>
              <a:t>Subqueries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3081528"/>
            <a:ext cx="19202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59" y="3163824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5B2D7D"/>
                </a:solidFill>
                <a:latin typeface="Aptos"/>
              </a:defRPr>
            </a:pPr>
            <a:r>
              <a:t>DENSE_RANK()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977639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5B2D7D"/>
                </a:solidFill>
                <a:latin typeface="Aptos"/>
              </a:defRPr>
            </a:pPr>
            <a:r>
              <a:t>BUSINESS QUERIES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315968"/>
            <a:ext cx="6309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20">
                <a:solidFill>
                  <a:srgbClr val="18161E"/>
                </a:solidFill>
                <a:latin typeface="Aptos"/>
              </a:defRPr>
            </a:pPr>
            <a:r>
              <a:t>• Top customers and top products</a:t>
            </a:r>
          </a:p>
          <a:p>
            <a:pPr>
              <a:spcAft>
                <a:spcPts val="900"/>
              </a:spcAft>
              <a:defRPr sz="1220">
                <a:solidFill>
                  <a:srgbClr val="18161E"/>
                </a:solidFill>
                <a:latin typeface="Aptos"/>
              </a:defRPr>
            </a:pPr>
            <a:r>
              <a:t>• Most-sold products and popular categories</a:t>
            </a:r>
          </a:p>
          <a:p>
            <a:pPr>
              <a:spcAft>
                <a:spcPts val="900"/>
              </a:spcAft>
              <a:defRPr sz="1220">
                <a:solidFill>
                  <a:srgbClr val="18161E"/>
                </a:solidFill>
                <a:latin typeface="Aptos"/>
              </a:defRPr>
            </a:pPr>
            <a:r>
              <a:t>• Average product price by category</a:t>
            </a:r>
          </a:p>
          <a:p>
            <a:pPr>
              <a:spcAft>
                <a:spcPts val="900"/>
              </a:spcAft>
              <a:defRPr sz="1220">
                <a:solidFill>
                  <a:srgbClr val="18161E"/>
                </a:solidFill>
                <a:latin typeface="Aptos"/>
              </a:defRPr>
            </a:pPr>
            <a:r>
              <a:t>• Never-purchased customers</a:t>
            </a:r>
          </a:p>
          <a:p>
            <a:pPr>
              <a:spcAft>
                <a:spcPts val="900"/>
              </a:spcAft>
              <a:defRPr sz="1220">
                <a:solidFill>
                  <a:srgbClr val="18161E"/>
                </a:solidFill>
                <a:latin typeface="Aptos"/>
              </a:defRPr>
            </a:pPr>
            <a:r>
              <a:t>• Out-of-stock products</a:t>
            </a:r>
          </a:p>
          <a:p>
            <a:pPr>
              <a:spcAft>
                <a:spcPts val="900"/>
              </a:spcAft>
              <a:defRPr sz="1220">
                <a:solidFill>
                  <a:srgbClr val="18161E"/>
                </a:solidFill>
                <a:latin typeface="Aptos"/>
              </a:defRPr>
            </a:pPr>
            <a:r>
              <a:t>• Top 3 products within each category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794760"/>
            <a:ext cx="37947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096512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5B2D7D"/>
                </a:solidFill>
                <a:latin typeface="Aptos"/>
              </a:defRPr>
            </a:pPr>
            <a:r>
              <a:t>WHY IT MATTERED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498848"/>
            <a:ext cx="3154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61E"/>
                </a:solidFill>
                <a:latin typeface="Aptos"/>
              </a:defRPr>
            </a:pPr>
            <a:r>
              <a:t>SQL gave me a validated analytical view before building the Power BI model.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69656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336792"/>
            <a:ext cx="10972800" cy="13716"/>
          </a:xfrm>
          <a:prstGeom prst="rect">
            <a:avLst/>
          </a:prstGeom>
          <a:solidFill>
            <a:srgbClr val="DA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651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5B2D7D"/>
                </a:solidFill>
                <a:latin typeface="Aptos"/>
              </a:defRPr>
            </a:pPr>
            <a:r>
              <a:t>04 •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61E"/>
                </a:solidFill>
                <a:latin typeface="Aptos Display"/>
              </a:defRPr>
            </a:pPr>
            <a:r>
              <a:t>Build the model. Then measure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61872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656E"/>
                </a:solidFill>
                <a:latin typeface="Aptos"/>
              </a:defRPr>
            </a:pPr>
            <a:r>
              <a:t>Relationships connected the business entities; DAX converted them into reusable KPIs.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64792"/>
            <a:ext cx="1371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5B2D7D"/>
                </a:solidFill>
                <a:latin typeface="Aptos"/>
              </a:defRPr>
            </a:pPr>
            <a:r>
              <a:t>DATA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1783080" cy="960120"/>
          </a:xfrm>
          <a:prstGeom prst="roundRect">
            <a:avLst/>
          </a:prstGeom>
          <a:solidFill>
            <a:srgbClr val="F8F6F2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304288"/>
            <a:ext cx="163677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8161E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33472"/>
            <a:ext cx="163677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69656E"/>
                </a:solidFill>
                <a:latin typeface="Aptos"/>
              </a:defRPr>
            </a:pPr>
            <a:r>
              <a:t>CustomerID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148840"/>
            <a:ext cx="1783080" cy="960120"/>
          </a:xfrm>
          <a:prstGeom prst="roundRect">
            <a:avLst/>
          </a:prstGeom>
          <a:solidFill>
            <a:srgbClr val="F8F6F2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2304288"/>
            <a:ext cx="163677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8161E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2633472"/>
            <a:ext cx="163677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69656E"/>
                </a:solidFill>
                <a:latin typeface="Aptos"/>
              </a:defRPr>
            </a:pPr>
            <a:r>
              <a:t>CustomerID • OrderID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2148840"/>
            <a:ext cx="1783080" cy="960120"/>
          </a:xfrm>
          <a:prstGeom prst="roundRect">
            <a:avLst/>
          </a:prstGeom>
          <a:solidFill>
            <a:srgbClr val="F8F6F2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8072" y="2304288"/>
            <a:ext cx="163677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8161E"/>
                </a:solidFill>
                <a:latin typeface="Aptos"/>
              </a:defRPr>
            </a:pPr>
            <a:r>
              <a:t>OrderItems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2633472"/>
            <a:ext cx="163677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69656E"/>
                </a:solidFill>
                <a:latin typeface="Aptos"/>
              </a:defRPr>
            </a:pPr>
            <a:r>
              <a:t>OrderID • ProductID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148840"/>
            <a:ext cx="1783080" cy="960120"/>
          </a:xfrm>
          <a:prstGeom prst="roundRect">
            <a:avLst/>
          </a:prstGeom>
          <a:solidFill>
            <a:srgbClr val="F8F6F2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2304288"/>
            <a:ext cx="163677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8161E"/>
                </a:solidFill>
                <a:latin typeface="Aptos"/>
              </a:defRPr>
            </a:pPr>
            <a:r>
              <a:t>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2633472"/>
            <a:ext cx="163677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69656E"/>
                </a:solidFill>
                <a:latin typeface="Aptos"/>
              </a:defRPr>
            </a:pPr>
            <a:r>
              <a:t>ProductID • CategoryID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5480" y="2148840"/>
            <a:ext cx="1783080" cy="960120"/>
          </a:xfrm>
          <a:prstGeom prst="roundRect">
            <a:avLst/>
          </a:prstGeom>
          <a:solidFill>
            <a:srgbClr val="F8F6F2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8632" y="2304288"/>
            <a:ext cx="163677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8161E"/>
                </a:solidFill>
                <a:latin typeface="Aptos"/>
              </a:defRPr>
            </a:pPr>
            <a:r>
              <a:t>Categories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8632" y="2633472"/>
            <a:ext cx="1636776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69656E"/>
                </a:solidFill>
                <a:latin typeface="Aptos"/>
              </a:defRPr>
            </a:pPr>
            <a:r>
              <a:t>CategoryID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441448"/>
            <a:ext cx="274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B2D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2441448"/>
            <a:ext cx="274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B2D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2441448"/>
            <a:ext cx="274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B2D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2441448"/>
            <a:ext cx="274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B2D7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493008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61E"/>
                </a:solidFill>
                <a:latin typeface="Aptos"/>
              </a:defRPr>
            </a:pPr>
            <a:r>
              <a:t>DAX KPI layer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977639"/>
            <a:ext cx="1783080" cy="749808"/>
          </a:xfrm>
          <a:prstGeom prst="roundRect">
            <a:avLst/>
          </a:prstGeom>
          <a:solidFill>
            <a:srgbClr val="EDE4F3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19" y="4069079"/>
            <a:ext cx="16367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B2D7D"/>
                </a:solidFill>
                <a:latin typeface="Aptos"/>
              </a:defRPr>
            </a:pPr>
            <a:r>
              <a:t>$9.08M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19" y="4407407"/>
            <a:ext cx="163677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69656E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51760" y="3977639"/>
            <a:ext cx="1783080" cy="749808"/>
          </a:xfrm>
          <a:prstGeom prst="roundRect">
            <a:avLst/>
          </a:prstGeom>
          <a:solidFill>
            <a:srgbClr val="EDE4F3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24912" y="4069079"/>
            <a:ext cx="16367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B2D7D"/>
                </a:solidFill>
                <a:latin typeface="Aptos"/>
              </a:defRPr>
            </a:pPr>
            <a:r>
              <a:t>20K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24912" y="4407407"/>
            <a:ext cx="163677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69656E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45152" y="3977639"/>
            <a:ext cx="1783080" cy="749808"/>
          </a:xfrm>
          <a:prstGeom prst="roundRect">
            <a:avLst/>
          </a:prstGeom>
          <a:solidFill>
            <a:srgbClr val="EDE4F3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18304" y="4069079"/>
            <a:ext cx="16367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B2D7D"/>
                </a:solidFill>
                <a:latin typeface="Aptos"/>
              </a:defRPr>
            </a:pPr>
            <a:r>
              <a:t>5K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18304" y="4407407"/>
            <a:ext cx="163677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69656E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10327"/>
            <a:ext cx="1783080" cy="749808"/>
          </a:xfrm>
          <a:prstGeom prst="roundRect">
            <a:avLst/>
          </a:prstGeom>
          <a:solidFill>
            <a:srgbClr val="EDE4F3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19" y="5001767"/>
            <a:ext cx="16367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B2D7D"/>
                </a:solidFill>
                <a:latin typeface="Aptos"/>
              </a:defRPr>
            </a:pPr>
            <a:r>
              <a:t>$454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19" y="5340095"/>
            <a:ext cx="163677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69656E"/>
                </a:solidFill>
                <a:latin typeface="Aptos"/>
              </a:defRPr>
            </a:pPr>
            <a:r>
              <a:t>AOV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51760" y="4910327"/>
            <a:ext cx="1783080" cy="749808"/>
          </a:xfrm>
          <a:prstGeom prst="roundRect">
            <a:avLst/>
          </a:prstGeom>
          <a:solidFill>
            <a:srgbClr val="EDE4F3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24912" y="5001767"/>
            <a:ext cx="16367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B2D7D"/>
                </a:solidFill>
                <a:latin typeface="Aptos"/>
              </a:defRPr>
            </a:pPr>
            <a:r>
              <a:t>87.7K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24912" y="5340095"/>
            <a:ext cx="163677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69656E"/>
                </a:solidFill>
                <a:latin typeface="Aptos"/>
              </a:defRPr>
            </a:pPr>
            <a:r>
              <a:t>Units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45152" y="4910327"/>
            <a:ext cx="1783080" cy="749808"/>
          </a:xfrm>
          <a:prstGeom prst="roundRect">
            <a:avLst/>
          </a:prstGeom>
          <a:solidFill>
            <a:srgbClr val="EDE4F3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5001767"/>
            <a:ext cx="16367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5B2D7D"/>
                </a:solidFill>
                <a:latin typeface="Aptos"/>
              </a:defRPr>
            </a:pPr>
            <a:r>
              <a:t>84.86%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18304" y="5340095"/>
            <a:ext cx="1636776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69656E"/>
                </a:solidFill>
                <a:latin typeface="Aptos"/>
              </a:defRPr>
            </a:pPr>
            <a:r>
              <a:t>Repeat Rate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12280" y="3493008"/>
            <a:ext cx="4343400" cy="2240280"/>
          </a:xfrm>
          <a:prstGeom prst="roundRect">
            <a:avLst/>
          </a:prstGeom>
          <a:solidFill>
            <a:srgbClr val="F8F6F2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86600" y="3749039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5B2D7D"/>
                </a:solidFill>
                <a:latin typeface="Aptos"/>
              </a:defRPr>
            </a:pPr>
            <a:r>
              <a:t>CALCULATED COLUMNS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59168" y="4114800"/>
            <a:ext cx="3703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18161E"/>
                </a:solidFill>
                <a:latin typeface="Aptos"/>
              </a:defRPr>
            </a:pPr>
            <a:r>
              <a:t>• Customer segmentation</a:t>
            </a:r>
          </a:p>
          <a:p>
            <a:pPr>
              <a:spcAft>
                <a:spcPts val="900"/>
              </a:spcAft>
              <a:defRPr sz="1200">
                <a:solidFill>
                  <a:srgbClr val="18161E"/>
                </a:solidFill>
                <a:latin typeface="Aptos"/>
              </a:defRPr>
            </a:pPr>
            <a:r>
              <a:t>• Customer type / retention</a:t>
            </a:r>
          </a:p>
          <a:p>
            <a:pPr>
              <a:spcAft>
                <a:spcPts val="900"/>
              </a:spcAft>
              <a:defRPr sz="1200">
                <a:solidFill>
                  <a:srgbClr val="18161E"/>
                </a:solidFill>
                <a:latin typeface="Aptos"/>
              </a:defRPr>
            </a:pPr>
            <a:r>
              <a:t>• Spending distribution</a:t>
            </a:r>
          </a:p>
          <a:p>
            <a:pPr>
              <a:spcAft>
                <a:spcPts val="900"/>
              </a:spcAft>
              <a:defRPr sz="1200">
                <a:solidFill>
                  <a:srgbClr val="18161E"/>
                </a:solidFill>
                <a:latin typeface="Aptos"/>
              </a:defRPr>
            </a:pPr>
            <a:r>
              <a:t>• Row-level classifications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69656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6336792"/>
            <a:ext cx="10972800" cy="13716"/>
          </a:xfrm>
          <a:prstGeom prst="rect">
            <a:avLst/>
          </a:prstGeom>
          <a:solidFill>
            <a:srgbClr val="DA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651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5B2D7D"/>
                </a:solidFill>
                <a:latin typeface="Aptos"/>
              </a:defRPr>
            </a:pPr>
            <a:r>
              <a:t>05 •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61E"/>
                </a:solidFill>
                <a:latin typeface="Aptos Display"/>
              </a:defRPr>
            </a:pPr>
            <a:r>
              <a:t>Executive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61872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656E"/>
                </a:solidFill>
                <a:latin typeface="Aptos"/>
              </a:defRPr>
            </a:pPr>
            <a:r>
              <a:t>One page to monitor revenue, orders, customers, categories and product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1201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BI SS Page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551" y="1764792"/>
            <a:ext cx="7964136" cy="43799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69656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336792"/>
            <a:ext cx="10972800" cy="13716"/>
          </a:xfrm>
          <a:prstGeom prst="rect">
            <a:avLst/>
          </a:prstGeom>
          <a:solidFill>
            <a:srgbClr val="DA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6517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5B2D7D"/>
                </a:solidFill>
                <a:latin typeface="Aptos"/>
              </a:defRPr>
            </a:pPr>
            <a:r>
              <a:t>06 •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61E"/>
                </a:solidFill>
                <a:latin typeface="Aptos Display"/>
              </a:defRPr>
            </a:pPr>
            <a:r>
              <a:t>Customer + Product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61872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656E"/>
                </a:solidFill>
                <a:latin typeface="Aptos"/>
              </a:defRPr>
            </a:pPr>
            <a:r>
              <a:t>Focused views for retention, spending, product performance and inventory.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54864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BI SS Pag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2442590"/>
            <a:ext cx="5376672" cy="302437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99632" y="1783080"/>
            <a:ext cx="54864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BI SS Page 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482785"/>
            <a:ext cx="5376672" cy="29439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83080" y="6199632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5B2D7D"/>
                </a:solidFill>
                <a:latin typeface="Aptos"/>
              </a:defRPr>
            </a:pPr>
            <a:r>
              <a:t>CUSTOMER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6199632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5B2D7D"/>
                </a:solidFill>
                <a:latin typeface="Aptos"/>
              </a:defRPr>
            </a:pPr>
            <a:r>
              <a:t>PRODUCT &amp;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69656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336792"/>
            <a:ext cx="10972800" cy="13716"/>
          </a:xfrm>
          <a:prstGeom prst="rect">
            <a:avLst/>
          </a:prstGeom>
          <a:solidFill>
            <a:srgbClr val="DA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84048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BEACC9"/>
                </a:solidFill>
                <a:latin typeface="Aptos"/>
              </a:defRPr>
            </a:pPr>
            <a:r>
              <a:t>07 •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49808"/>
            <a:ext cx="89611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What the data says.</a:t>
            </a:r>
            <a:br/>
            <a:r>
              <a:t>What the business should 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205740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03704"/>
            <a:ext cx="293522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307848"/>
                </a:solidFill>
                <a:latin typeface="Aptos"/>
              </a:defRPr>
            </a:pPr>
            <a:r>
              <a:t>RETENTION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96312"/>
            <a:ext cx="29352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18161E"/>
                </a:solidFill>
                <a:latin typeface="Aptos"/>
              </a:defRPr>
            </a:pPr>
            <a:r>
              <a:t>84.86%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26664"/>
            <a:ext cx="2935224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9656E"/>
                </a:solidFill>
                <a:latin typeface="Aptos"/>
              </a:defRPr>
            </a:pPr>
            <a:r>
              <a:t>Customer repeat behavior is a major strength.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87952" y="205740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203704"/>
            <a:ext cx="293522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5B2D7D"/>
                </a:solidFill>
                <a:latin typeface="Aptos"/>
              </a:defRPr>
            </a:pPr>
            <a:r>
              <a:t>CONCENTRATION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96312"/>
            <a:ext cx="29352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18161E"/>
                </a:solidFill>
                <a:latin typeface="Aptos"/>
              </a:defRPr>
            </a:pPr>
            <a:r>
              <a:t>~73.5%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026664"/>
            <a:ext cx="2935224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9656E"/>
                </a:solidFill>
                <a:latin typeface="Aptos"/>
              </a:defRPr>
            </a:pPr>
            <a:r>
              <a:t>Three categories drive most revenue.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54112" y="205740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2203704"/>
            <a:ext cx="293522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C35C2D"/>
                </a:solidFill>
                <a:latin typeface="Aptos"/>
              </a:defRPr>
            </a:pPr>
            <a:r>
              <a:t>ACTIVATION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2496312"/>
            <a:ext cx="29352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18161E"/>
                </a:solidFill>
                <a:latin typeface="Aptos"/>
              </a:defRPr>
            </a:pPr>
            <a:r>
              <a:t>531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3026664"/>
            <a:ext cx="2935224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9656E"/>
                </a:solidFill>
                <a:latin typeface="Aptos"/>
              </a:defRPr>
            </a:pPr>
            <a:r>
              <a:t>Customers had never placed an order.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6118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58184"/>
            <a:ext cx="293522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7B4896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50791"/>
            <a:ext cx="29352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18161E"/>
                </a:solidFill>
                <a:latin typeface="Aptos"/>
              </a:defRPr>
            </a:pPr>
            <a:r>
              <a:t>12 / 150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81144"/>
            <a:ext cx="2935224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9656E"/>
                </a:solidFill>
                <a:latin typeface="Aptos"/>
              </a:defRPr>
            </a:pPr>
            <a:r>
              <a:t>Products were out of stock.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87952" y="361188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758184"/>
            <a:ext cx="293522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5B2D7D"/>
                </a:solidFill>
                <a:latin typeface="Aptos"/>
              </a:defRPr>
            </a:pPr>
            <a:r>
              <a:t>SALES TREND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050791"/>
            <a:ext cx="293522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18161E"/>
                </a:solidFill>
                <a:latin typeface="Aptos"/>
              </a:defRPr>
            </a:pPr>
            <a:r>
              <a:t>↓ After Aug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581144"/>
            <a:ext cx="2935224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69656E"/>
                </a:solidFill>
                <a:latin typeface="Aptos"/>
              </a:defRPr>
            </a:pPr>
            <a:r>
              <a:t>Revenue and orders need root-cause analysis.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54112" y="3611880"/>
            <a:ext cx="3337560" cy="2240280"/>
          </a:xfrm>
          <a:prstGeom prst="roundRect">
            <a:avLst/>
          </a:prstGeom>
          <a:solidFill>
            <a:srgbClr val="EDE4F3"/>
          </a:solidFill>
          <a:ln>
            <a:solidFill>
              <a:srgbClr val="EDE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28431" y="3822191"/>
            <a:ext cx="1371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5B2D7D"/>
                </a:solidFill>
                <a:latin typeface="Aptos"/>
              </a:defRPr>
            </a:pPr>
            <a:r>
              <a:t>PRIORITIES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224528"/>
            <a:ext cx="26974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>
                <a:solidFill>
                  <a:srgbClr val="18161E"/>
                </a:solidFill>
                <a:latin typeface="Aptos"/>
              </a:defRPr>
            </a:pPr>
            <a:r>
              <a:t>• Investigate post-August decline</a:t>
            </a:r>
          </a:p>
          <a:p>
            <a:pPr>
              <a:spcAft>
                <a:spcPts val="900"/>
              </a:spcAft>
              <a:defRPr sz="1100">
                <a:solidFill>
                  <a:srgbClr val="18161E"/>
                </a:solidFill>
                <a:latin typeface="Aptos"/>
              </a:defRPr>
            </a:pPr>
            <a:r>
              <a:t>• Protect high-demand products</a:t>
            </a:r>
          </a:p>
          <a:p>
            <a:pPr>
              <a:spcAft>
                <a:spcPts val="900"/>
              </a:spcAft>
              <a:defRPr sz="1100">
                <a:solidFill>
                  <a:srgbClr val="18161E"/>
                </a:solidFill>
                <a:latin typeface="Aptos"/>
              </a:defRPr>
            </a:pPr>
            <a:r>
              <a:t>• Grow Medium-Value customers</a:t>
            </a:r>
          </a:p>
          <a:p>
            <a:pPr>
              <a:spcAft>
                <a:spcPts val="900"/>
              </a:spcAft>
              <a:defRPr sz="1100">
                <a:solidFill>
                  <a:srgbClr val="18161E"/>
                </a:solidFill>
                <a:latin typeface="Aptos"/>
              </a:defRPr>
            </a:pPr>
            <a:r>
              <a:t>• Activate never-purchased customers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394960"/>
            <a:ext cx="1554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BEACC9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5285232"/>
            <a:ext cx="5166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Strong retention + strong revenue, with clear opportunities in sales recovery, inventory planning and customer value growth.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236208"/>
            <a:ext cx="4206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1">
                <a:solidFill>
                  <a:srgbClr val="BEACC9"/>
                </a:solidFill>
                <a:latin typeface="Aptos"/>
              </a:defRPr>
            </a:pPr>
            <a:r>
              <a:t>EXCEL  •  MYSQL  •  POWER BI  •  DAX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236208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BEACC9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